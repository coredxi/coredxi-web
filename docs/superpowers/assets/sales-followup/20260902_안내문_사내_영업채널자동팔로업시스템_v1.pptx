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73736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AX 전환 컨설팅 3분 진단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2860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영업채널 자동 팔로업 시스템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2461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리드가 들어오면 사람 없이도 메일이 나가고, 영업이사님은 통화만 하시면 됩니다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512064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영업이사 검토용 안내 자료
</a:t>
            </a:r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(주)코어디엑스아이  ·  2026. 09. 02.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59893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FB6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검토 요청: ① 메일 초안 2안 중 선택(별첨 샘플 PDF)  ② HOT 리드 통화 규칙  ③ 메일 서명에 들어갈 성함·연락처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539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한눈에 보기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무엇이 바뀌나 — "사람이 보내는 메일"에서 "시스템이 보내는 메일"로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5440680" cy="25603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9525">
            <a:solidFill>
              <a:srgbClr val="DDE3E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58952" y="16459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지금까지 (8/30 방식)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758952" y="196596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리드마다 영업이사가 직접 검토·발송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758952" y="2514600"/>
            <a:ext cx="4937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고객이 진단을 마치면 화면에 결과만 뜨고, 메일은 가지 않음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영업이사가 관리자 화면에서 초안을 복사해 직접 보내야 함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외근 중이면 며칠씩 밀리고, 밀려도 아무도 모름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"1영업일 내 보내드립니다" 약속을 지킬 수 없었음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17920" y="1463040"/>
            <a:ext cx="5440680" cy="2560320"/>
          </a:xfrm>
          <a:prstGeom prst="roundRect">
            <a:avLst>
              <a:gd name="adj" fmla="val 2857"/>
            </a:avLst>
          </a:prstGeom>
          <a:solidFill>
            <a:srgbClr val="EDF1F8"/>
          </a:solidFill>
          <a:ln w="9525">
            <a:solidFill>
              <a:srgbClr val="DDE3E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73952" y="16459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E539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앞으로 (9/2 결정)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473952" y="196596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시스템이 자동 발송, 영업이사는 HOT 리드 통화만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6473952" y="2514600"/>
            <a:ext cx="4937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진단 직후 결과 요약 메일이 바로 나감 (T0)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영업일 기준 2일 뒤 아침, 상세 진단 메일이 자동 발송 (T1)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HOT 등급 리드만 영업이사님께 "전화 부탁" 알림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보내기 전에 멈추거나 고치고 싶으면 관리자 화면에서 한 번의 클릭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02920" y="4297680"/>
            <a:ext cx="11155680" cy="1325880"/>
          </a:xfrm>
          <a:prstGeom prst="roundRect">
            <a:avLst>
              <a:gd name="adj" fmla="val 5517"/>
            </a:avLst>
          </a:prstGeom>
          <a:solidFill>
            <a:srgbClr val="1F3864"/>
          </a:solidFill>
          <a:ln w="9525">
            <a:solidFill>
              <a:srgbClr val="DDE3E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7240" y="4434840"/>
            <a:ext cx="10607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 </a:t>
            </a:r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메일을 "쓰는 일"은 시스템이 맡고, 영업이사님의 시간은 "통화와 미팅"에만 씁니다. 등급(HOT/WARM/COLD)은 이미 시스템이 계산하고 있으니, 사람이 붙어야 할 리드만 골라서 알려드립니다.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647395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(주)코어디엑스아이 · 영업채널 자동 팔로업 시스템 안내 · 2026-09-02</a:t>
            </a:r>
            <a:endParaRPr lang="en-US" sz="850" dirty="0"/>
          </a:p>
        </p:txBody>
      </p:sp>
      <p:sp>
        <p:nvSpPr>
          <p:cNvPr id="15" name="Text 13"/>
          <p:cNvSpPr txBox="1"/>
          <p:nvPr/>
        </p:nvSpPr>
        <p:spPr>
          <a:xfrm>
            <a:off x="11338560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539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업무 플로우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링크 한 번 보내면 무슨 일이 일어나나 — 고객 · 시스템 · 영업이사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111556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DDE3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417320"/>
            <a:ext cx="1234440" cy="1417320"/>
          </a:xfrm>
          <a:prstGeom prst="roundRect">
            <a:avLst>
              <a:gd name="adj" fmla="val 5926"/>
            </a:avLst>
          </a:prstGeom>
          <a:solidFill>
            <a:srgbClr val="1F3864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02920" y="1417320"/>
            <a:ext cx="12344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2926080"/>
            <a:ext cx="11155680" cy="1600200"/>
          </a:xfrm>
          <a:prstGeom prst="roundRect">
            <a:avLst>
              <a:gd name="adj" fmla="val 4571"/>
            </a:avLst>
          </a:prstGeom>
          <a:solidFill>
            <a:srgbClr val="EDF1F8"/>
          </a:solidFill>
          <a:ln w="9525">
            <a:solidFill>
              <a:srgbClr val="DDE3E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2926080"/>
            <a:ext cx="1234440" cy="1600200"/>
          </a:xfrm>
          <a:prstGeom prst="roundRect">
            <a:avLst>
              <a:gd name="adj" fmla="val 5926"/>
            </a:avLst>
          </a:prstGeom>
          <a:solidFill>
            <a:srgbClr val="1F3864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02920" y="2926080"/>
            <a:ext cx="12344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(자동)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2920" y="4617720"/>
            <a:ext cx="111556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DDE3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" y="4617720"/>
            <a:ext cx="1234440" cy="1417320"/>
          </a:xfrm>
          <a:prstGeom prst="roundRect">
            <a:avLst>
              <a:gd name="adj" fmla="val 5926"/>
            </a:avLst>
          </a:prstGeom>
          <a:solidFill>
            <a:srgbClr val="1F3864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02920" y="4617720"/>
            <a:ext cx="12344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영업이사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965960" y="4818888"/>
            <a:ext cx="1417320" cy="1014984"/>
          </a:xfrm>
          <a:prstGeom prst="roundRect">
            <a:avLst>
              <a:gd name="adj" fmla="val 7207"/>
            </a:avLst>
          </a:prstGeom>
          <a:solidFill>
            <a:srgbClr val="FFFFFF"/>
          </a:solidFill>
          <a:ln w="9525">
            <a:solidFill>
              <a:srgbClr val="DDE3E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057400" y="4892040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링크 발송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2057400" y="5294376"/>
            <a:ext cx="12344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카톡·메일로 소개서 + 3분 진단 링크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584448" y="1618488"/>
            <a:ext cx="1417320" cy="1014984"/>
          </a:xfrm>
          <a:prstGeom prst="roundRect">
            <a:avLst>
              <a:gd name="adj" fmla="val 7207"/>
            </a:avLst>
          </a:prstGeom>
          <a:solidFill>
            <a:srgbClr val="FFFFFF"/>
          </a:solidFill>
          <a:ln w="9525">
            <a:solidFill>
              <a:srgbClr val="DDE3E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675888" y="1691640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3분 진단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3675888" y="2093976"/>
            <a:ext cx="12344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8문항 선택, 회사·성함·메일 입력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202936" y="1618488"/>
            <a:ext cx="1417320" cy="1014984"/>
          </a:xfrm>
          <a:prstGeom prst="roundRect">
            <a:avLst>
              <a:gd name="adj" fmla="val 7207"/>
            </a:avLst>
          </a:prstGeom>
          <a:solidFill>
            <a:srgbClr val="FFFFFF"/>
          </a:solidFill>
          <a:ln w="9525">
            <a:solidFill>
              <a:srgbClr val="DDE3E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294376" y="1691640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결과 화면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5294376" y="2093976"/>
            <a:ext cx="12344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우선 과제 3가지 즉시 확인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202936" y="3127248"/>
            <a:ext cx="1417320" cy="1197864"/>
          </a:xfrm>
          <a:prstGeom prst="roundRect">
            <a:avLst>
              <a:gd name="adj" fmla="val 6107"/>
            </a:avLst>
          </a:prstGeom>
          <a:solidFill>
            <a:srgbClr val="1F3864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294376" y="3200400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T0 요약 메일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5294376" y="3602736"/>
            <a:ext cx="123444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즉시 · 결과 링크 + 소개서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821424" y="3127248"/>
            <a:ext cx="1417320" cy="1197864"/>
          </a:xfrm>
          <a:prstGeom prst="roundRect">
            <a:avLst>
              <a:gd name="adj" fmla="val 6107"/>
            </a:avLst>
          </a:prstGeom>
          <a:solidFill>
            <a:srgbClr val="FFFFFF"/>
          </a:solidFill>
          <a:ln w="9525">
            <a:solidFill>
              <a:srgbClr val="DDE3EE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912864" y="3200400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등급 계산·알림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6912864" y="3602736"/>
            <a:ext cx="123444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HOT/WARM/COLD 판정, 영업이사 알림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8439912" y="3127248"/>
            <a:ext cx="1417320" cy="1197864"/>
          </a:xfrm>
          <a:prstGeom prst="roundRect">
            <a:avLst>
              <a:gd name="adj" fmla="val 6107"/>
            </a:avLst>
          </a:prstGeom>
          <a:solidFill>
            <a:srgbClr val="1F3864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531352" y="3200400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T1 상세 진단 메일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8531352" y="3602736"/>
            <a:ext cx="123444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영업일 D+2 09:30 자동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8439912" y="4818888"/>
            <a:ext cx="1417320" cy="1014984"/>
          </a:xfrm>
          <a:prstGeom prst="roundRect">
            <a:avLst>
              <a:gd name="adj" fmla="val 7207"/>
            </a:avLst>
          </a:prstGeom>
          <a:solidFill>
            <a:srgbClr val="FFFFFF"/>
          </a:solidFill>
          <a:ln w="9525">
            <a:solidFill>
              <a:srgbClr val="DDE3EE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531352" y="4892040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HOT만 전화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8531352" y="5294376"/>
            <a:ext cx="12344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알림에 통화 포인트 3줄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10058400" y="1618488"/>
            <a:ext cx="1417320" cy="1014984"/>
          </a:xfrm>
          <a:prstGeom prst="roundRect">
            <a:avLst>
              <a:gd name="adj" fmla="val 7207"/>
            </a:avLst>
          </a:prstGeom>
          <a:solidFill>
            <a:srgbClr val="FFFFFF"/>
          </a:solidFill>
          <a:ln w="9525">
            <a:solidFill>
              <a:srgbClr val="DDE3EE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10149840" y="1691640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⑤ 회신·통화</a:t>
            </a:r>
            <a:endParaRPr lang="en-US" sz="1050" dirty="0"/>
          </a:p>
        </p:txBody>
      </p:sp>
      <p:sp>
        <p:nvSpPr>
          <p:cNvPr id="36" name="Text 34"/>
          <p:cNvSpPr txBox="1"/>
          <p:nvPr/>
        </p:nvSpPr>
        <p:spPr>
          <a:xfrm>
            <a:off x="10149840" y="2093976"/>
            <a:ext cx="12344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메일 회신 또는 통화 응답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10058400" y="4818888"/>
            <a:ext cx="1417320" cy="1014984"/>
          </a:xfrm>
          <a:prstGeom prst="roundRect">
            <a:avLst>
              <a:gd name="adj" fmla="val 7207"/>
            </a:avLst>
          </a:prstGeom>
          <a:solidFill>
            <a:srgbClr val="FFFFFF"/>
          </a:solidFill>
          <a:ln w="9525">
            <a:solidFill>
              <a:srgbClr val="DDE3EE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10149840" y="4892040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⑥ 미팅 → 계약</a:t>
            </a:r>
            <a:endParaRPr lang="en-US" sz="1050" dirty="0"/>
          </a:p>
        </p:txBody>
      </p:sp>
      <p:sp>
        <p:nvSpPr>
          <p:cNvPr id="39" name="Text 37"/>
          <p:cNvSpPr txBox="1"/>
          <p:nvPr/>
        </p:nvSpPr>
        <p:spPr>
          <a:xfrm>
            <a:off x="10149840" y="5294376"/>
            <a:ext cx="12344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상태를 미팅/계약으로 갱신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 flipV="1">
            <a:off x="3383280" y="2633472"/>
            <a:ext cx="909828" cy="2692908"/>
          </a:xfrm>
          <a:prstGeom prst="line">
            <a:avLst/>
          </a:prstGeom>
          <a:noFill/>
          <a:ln w="22225">
            <a:solidFill>
              <a:srgbClr val="2E5395"/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5001768" y="2125980"/>
            <a:ext cx="201168" cy="914"/>
          </a:xfrm>
          <a:prstGeom prst="line">
            <a:avLst/>
          </a:prstGeom>
          <a:noFill/>
          <a:ln w="22225">
            <a:solidFill>
              <a:srgbClr val="2E5395"/>
            </a:solidFill>
            <a:prstDash val="solid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5911596" y="2633472"/>
            <a:ext cx="914" cy="493776"/>
          </a:xfrm>
          <a:prstGeom prst="line">
            <a:avLst/>
          </a:prstGeom>
          <a:noFill/>
          <a:ln w="22225">
            <a:solidFill>
              <a:srgbClr val="2E5395"/>
            </a:solidFill>
            <a:prstDash val="solid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6620256" y="3726180"/>
            <a:ext cx="201168" cy="914"/>
          </a:xfrm>
          <a:prstGeom prst="line">
            <a:avLst/>
          </a:prstGeom>
          <a:noFill/>
          <a:ln w="22225">
            <a:solidFill>
              <a:srgbClr val="2E5395"/>
            </a:solidFill>
            <a:prstDash val="solid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8238744" y="3726180"/>
            <a:ext cx="201168" cy="914"/>
          </a:xfrm>
          <a:prstGeom prst="line">
            <a:avLst/>
          </a:prstGeom>
          <a:noFill/>
          <a:ln w="22225">
            <a:solidFill>
              <a:srgbClr val="2E5395"/>
            </a:solidFill>
            <a:prstDash val="solid"/>
            <a:tailEnd type="triangle"/>
          </a:ln>
        </p:spPr>
      </p:sp>
      <p:sp>
        <p:nvSpPr>
          <p:cNvPr id="45" name="Shape 43"/>
          <p:cNvSpPr/>
          <p:nvPr/>
        </p:nvSpPr>
        <p:spPr>
          <a:xfrm>
            <a:off x="7530084" y="4325112"/>
            <a:ext cx="1344168" cy="493776"/>
          </a:xfrm>
          <a:prstGeom prst="line">
            <a:avLst/>
          </a:prstGeom>
          <a:noFill/>
          <a:ln w="22225">
            <a:solidFill>
              <a:srgbClr val="2E5395"/>
            </a:solidFill>
            <a:prstDash val="solid"/>
            <a:tailEnd type="triangle"/>
          </a:ln>
        </p:spPr>
      </p:sp>
      <p:sp>
        <p:nvSpPr>
          <p:cNvPr id="46" name="Shape 44"/>
          <p:cNvSpPr/>
          <p:nvPr/>
        </p:nvSpPr>
        <p:spPr>
          <a:xfrm flipV="1">
            <a:off x="9857232" y="2633472"/>
            <a:ext cx="201168" cy="1092708"/>
          </a:xfrm>
          <a:prstGeom prst="line">
            <a:avLst/>
          </a:prstGeom>
          <a:noFill/>
          <a:ln w="22225">
            <a:solidFill>
              <a:srgbClr val="2E5395"/>
            </a:solidFill>
            <a:prstDash val="solid"/>
            <a:tailEnd type="triangle"/>
          </a:ln>
        </p:spPr>
      </p:sp>
      <p:sp>
        <p:nvSpPr>
          <p:cNvPr id="47" name="Shape 45"/>
          <p:cNvSpPr/>
          <p:nvPr/>
        </p:nvSpPr>
        <p:spPr>
          <a:xfrm>
            <a:off x="9857232" y="5326380"/>
            <a:ext cx="201168" cy="914"/>
          </a:xfrm>
          <a:prstGeom prst="line">
            <a:avLst/>
          </a:prstGeom>
          <a:noFill/>
          <a:ln w="22225">
            <a:solidFill>
              <a:srgbClr val="2E5395"/>
            </a:solidFill>
            <a:prstDash val="solid"/>
            <a:tailEnd type="triangle"/>
          </a:ln>
        </p:spPr>
      </p:sp>
      <p:sp>
        <p:nvSpPr>
          <p:cNvPr id="48" name="Shape 46"/>
          <p:cNvSpPr/>
          <p:nvPr/>
        </p:nvSpPr>
        <p:spPr>
          <a:xfrm>
            <a:off x="10767060" y="2633472"/>
            <a:ext cx="914" cy="2185416"/>
          </a:xfrm>
          <a:prstGeom prst="line">
            <a:avLst/>
          </a:prstGeom>
          <a:noFill/>
          <a:ln w="22225">
            <a:solidFill>
              <a:srgbClr val="2E5395"/>
            </a:solidFill>
            <a:prstDash val="solid"/>
            <a:tailEnd type="triangle"/>
          </a:ln>
        </p:spPr>
      </p:sp>
      <p:sp>
        <p:nvSpPr>
          <p:cNvPr id="49" name="Text 47"/>
          <p:cNvSpPr txBox="1"/>
          <p:nvPr/>
        </p:nvSpPr>
        <p:spPr>
          <a:xfrm>
            <a:off x="502920" y="6108192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진한 색 상자 = 시스템이 자동으로 보내는 메일. 영업이사님이 손대는 곳은 ①·④·⑥ 세 군데뿐입니다.</a:t>
            </a:r>
            <a:endParaRPr lang="en-US" sz="1000" dirty="0"/>
          </a:p>
        </p:txBody>
      </p:sp>
      <p:sp>
        <p:nvSpPr>
          <p:cNvPr id="50" name="Text 48"/>
          <p:cNvSpPr txBox="1"/>
          <p:nvPr/>
        </p:nvSpPr>
        <p:spPr>
          <a:xfrm>
            <a:off x="457200" y="647395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(주)코어디엑스아이 · 영업채널 자동 팔로업 시스템 안내 · 2026-09-02</a:t>
            </a:r>
            <a:endParaRPr lang="en-US" sz="850" dirty="0"/>
          </a:p>
        </p:txBody>
      </p:sp>
      <p:sp>
        <p:nvSpPr>
          <p:cNvPr id="51" name="Text 49"/>
          <p:cNvSpPr txBox="1"/>
          <p:nvPr/>
        </p:nvSpPr>
        <p:spPr>
          <a:xfrm>
            <a:off x="11338560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539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팔로업 시퀀스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고객이 받게 되는 접촉 — 시간 순서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097280" y="1828800"/>
            <a:ext cx="9966960" cy="914"/>
          </a:xfrm>
          <a:prstGeom prst="line">
            <a:avLst/>
          </a:prstGeom>
          <a:noFill/>
          <a:ln w="38100">
            <a:solidFill>
              <a:srgbClr val="DDE3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53312" y="1627632"/>
            <a:ext cx="402336" cy="402336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188720" y="1627632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T0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118872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E539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제출 즉시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02920" y="2240280"/>
            <a:ext cx="2103120" cy="2926080"/>
          </a:xfrm>
          <a:prstGeom prst="roundRect">
            <a:avLst>
              <a:gd name="adj" fmla="val 3478"/>
            </a:avLst>
          </a:prstGeom>
          <a:solidFill>
            <a:srgbClr val="EDF1F8"/>
          </a:solidFill>
          <a:ln w="9525">
            <a:solidFill>
              <a:srgbClr val="DDE3E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67512" y="2395728"/>
            <a:ext cx="17739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 요약 메일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67512" y="2926080"/>
            <a:ext cx="177393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화면에서 본 우선 과제 3가지 제목, 결과 다시 보기 링크, 소개서 링크, "2~3영업일 내 상세 진단 메일" 예고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667512" y="4617720"/>
            <a:ext cx="17739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02736" y="1627632"/>
            <a:ext cx="402336" cy="402336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438144" y="1627632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T1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2752344" y="118872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E539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영업일 D+2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2E539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09:30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752344" y="2240280"/>
            <a:ext cx="2103120" cy="2926080"/>
          </a:xfrm>
          <a:prstGeom prst="roundRect">
            <a:avLst>
              <a:gd name="adj" fmla="val 3478"/>
            </a:avLst>
          </a:prstGeom>
          <a:solidFill>
            <a:srgbClr val="EDF1F8"/>
          </a:solidFill>
          <a:ln w="9525">
            <a:solidFill>
              <a:srgbClr val="DDE3E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916936" y="2395728"/>
            <a:ext cx="17739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상세 진단 메일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2916936" y="2926080"/>
            <a:ext cx="177393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과제별 답변 인용 · 업종 예시 · 첫 1주/1개월/3개월 로드맵 · 기대 효과, 진행 방식(진단→설계→구축→교육), 30분 통화 제안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2916936" y="4617720"/>
            <a:ext cx="17739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 (발송 전 보류·수정 가능)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852160" y="1627632"/>
            <a:ext cx="402336" cy="402336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687568" y="1627632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HOT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5001768" y="118872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453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T1 당일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001768" y="2240280"/>
            <a:ext cx="2103120" cy="2926080"/>
          </a:xfrm>
          <a:prstGeom prst="roundRect">
            <a:avLst>
              <a:gd name="adj" fmla="val 3478"/>
            </a:avLst>
          </a:prstGeom>
          <a:solidFill>
            <a:srgbClr val="FDF3E7"/>
          </a:solidFill>
          <a:ln w="9525">
            <a:solidFill>
              <a:srgbClr val="DDE3EE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166360" y="2395728"/>
            <a:ext cx="17739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영업이사 직접 전화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5166360" y="2926080"/>
            <a:ext cx="177393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HOT 등급에만. 알림 메일에 통화 포인트 3줄(시간 드는 업무·검토 시점·의사결정 구조)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5166360" y="4617720"/>
            <a:ext cx="17739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b="1" dirty="0">
                <a:solidFill>
                  <a:srgbClr val="B453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101584" y="1627632"/>
            <a:ext cx="402336" cy="402336"/>
          </a:xfrm>
          <a:prstGeom prst="ellipse">
            <a:avLst/>
          </a:prstGeom>
          <a:solidFill>
            <a:srgbClr val="2E5395"/>
          </a:solidFill>
          <a:ln w="12700">
            <a:solidFill>
              <a:srgbClr val="2E5395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936992" y="1627632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T2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7251192" y="118872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E539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D+7~10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7251192" y="2240280"/>
            <a:ext cx="2103120" cy="2926080"/>
          </a:xfrm>
          <a:prstGeom prst="roundRect">
            <a:avLst>
              <a:gd name="adj" fmla="val 3478"/>
            </a:avLst>
          </a:prstGeom>
          <a:solidFill>
            <a:srgbClr val="EDF1F8"/>
          </a:solidFill>
          <a:ln w="9525">
            <a:solidFill>
              <a:srgbClr val="DDE3EE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415784" y="2395728"/>
            <a:ext cx="17739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가벼운 후속 메일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7415784" y="2926080"/>
            <a:ext cx="177393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블로그 1편 또는 익명 사례 + "궁금한 점은 회신" — 뉴스레터 동의한 리드만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7415784" y="4617720"/>
            <a:ext cx="17739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 (2차 구현)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10351008" y="1627632"/>
            <a:ext cx="402336" cy="402336"/>
          </a:xfrm>
          <a:prstGeom prst="ellipse">
            <a:avLst/>
          </a:prstGeom>
          <a:solidFill>
            <a:srgbClr val="2E5395"/>
          </a:solidFill>
          <a:ln w="12700">
            <a:solidFill>
              <a:srgbClr val="2E5395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10186416" y="1627632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T3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9500616" y="118872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E539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월 1회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9500616" y="2240280"/>
            <a:ext cx="2103120" cy="2926080"/>
          </a:xfrm>
          <a:prstGeom prst="roundRect">
            <a:avLst>
              <a:gd name="adj" fmla="val 3478"/>
            </a:avLst>
          </a:prstGeom>
          <a:solidFill>
            <a:srgbClr val="EDF1F8"/>
          </a:solidFill>
          <a:ln w="9525">
            <a:solidFill>
              <a:srgbClr val="DDE3EE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9665208" y="2395728"/>
            <a:ext cx="17739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뉴스레터</a:t>
            </a:r>
            <a:endParaRPr lang="en-US" sz="1400" dirty="0"/>
          </a:p>
        </p:txBody>
      </p:sp>
      <p:sp>
        <p:nvSpPr>
          <p:cNvPr id="38" name="Text 36"/>
          <p:cNvSpPr txBox="1"/>
          <p:nvPr/>
        </p:nvSpPr>
        <p:spPr>
          <a:xfrm>
            <a:off x="9665208" y="2926080"/>
            <a:ext cx="177393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동의한 구독자에게 월 1회 — 시스템 발송, 대표 승인</a:t>
            </a:r>
            <a:endParaRPr lang="en-US" sz="1050" dirty="0"/>
          </a:p>
        </p:txBody>
      </p:sp>
      <p:sp>
        <p:nvSpPr>
          <p:cNvPr id="39" name="Text 37"/>
          <p:cNvSpPr txBox="1"/>
          <p:nvPr/>
        </p:nvSpPr>
        <p:spPr>
          <a:xfrm>
            <a:off x="9665208" y="4617720"/>
            <a:ext cx="17739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 (3단계)</a:t>
            </a:r>
            <a:endParaRPr lang="en-US" sz="1000" dirty="0"/>
          </a:p>
        </p:txBody>
      </p:sp>
      <p:sp>
        <p:nvSpPr>
          <p:cNvPr id="40" name="Text 38"/>
          <p:cNvSpPr txBox="1"/>
          <p:nvPr/>
        </p:nvSpPr>
        <p:spPr>
          <a:xfrm>
            <a:off x="502920" y="544068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영업일 계산은 주말·공휴일을 건너뜁니다. 예) 목요일 오후 제출 → 다음 주 월요일 아침 T1 발송.  "정각" 약속은 하지 않습니다(수 분 지연 가능).</a:t>
            </a:r>
            <a:endParaRPr lang="en-US" sz="1000" dirty="0"/>
          </a:p>
        </p:txBody>
      </p:sp>
      <p:sp>
        <p:nvSpPr>
          <p:cNvPr id="41" name="Text 39"/>
          <p:cNvSpPr txBox="1"/>
          <p:nvPr/>
        </p:nvSpPr>
        <p:spPr>
          <a:xfrm>
            <a:off x="457200" y="647395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(주)코어디엑스아이 · 영업채널 자동 팔로업 시스템 안내 · 2026-09-02</a:t>
            </a:r>
            <a:endParaRPr lang="en-US" sz="850" dirty="0"/>
          </a:p>
        </p:txBody>
      </p:sp>
      <p:sp>
        <p:nvSpPr>
          <p:cNvPr id="42" name="Text 40"/>
          <p:cNvSpPr txBox="1"/>
          <p:nvPr/>
        </p:nvSpPr>
        <p:spPr>
          <a:xfrm>
            <a:off x="11338560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539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역할 분담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영업이사님이 하실 일 3가지 — 나머지는 시스템이 합니다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60350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9525">
            <a:solidFill>
              <a:srgbClr val="DDE3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" y="1737360"/>
            <a:ext cx="502920" cy="502920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13232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16002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링크 보내기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417320" y="192024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카톡·메일로 소개서 + 진단 링크를 보냅니다. 링크 뒤의 ?ref= 코드로 누가 보낸 리드인지 자동 기록됩니다.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02920" y="2670048"/>
            <a:ext cx="60350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9525">
            <a:solidFill>
              <a:srgbClr val="DDE3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13232" y="2944368"/>
            <a:ext cx="502920" cy="502920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13232" y="29443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417320" y="2807208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HOT 리드 전화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417320" y="3127248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알림 메일 제목에 [HOT]이 붙은 리드만, 상세 진단 메일이 나가는 날 전화합니다. 통화 포인트 3줄이 알림에 들어 있습니다.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02920" y="3877056"/>
            <a:ext cx="60350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9525">
            <a:solidFill>
              <a:srgbClr val="DDE3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13232" y="4151376"/>
            <a:ext cx="502920" cy="502920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13232" y="415137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417320" y="4014216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상태 갱신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417320" y="4334256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관리자 화면에서 리드 상태를 연락함 → 미팅 → 계약으로 바꿔 둡니다. 메모 칸에 통화 내용을 한 줄 남겨 주세요.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812280" y="1463040"/>
            <a:ext cx="4846320" cy="3465576"/>
          </a:xfrm>
          <a:prstGeom prst="roundRect">
            <a:avLst>
              <a:gd name="adj" fmla="val 2111"/>
            </a:avLst>
          </a:prstGeom>
          <a:solidFill>
            <a:srgbClr val="EDF1F8"/>
          </a:solidFill>
          <a:ln w="9525">
            <a:solidFill>
              <a:srgbClr val="DDE3E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040880" y="1627632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E539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시스템이 자동으로 하는 일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7040880" y="2011680"/>
            <a:ext cx="44805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답변을 읽고 우선 과제 3가지·등급을 계산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 요약 메일(T0) 즉시 발송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영업일 D+2 아침 상세 진단 메일(T1) 발송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영업이사님께 새 리드 알림(등급·통화 포인트·발송 예정일)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뉴스레터 동의자 명단 관리, 이후 후속 메일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발송 실패 시 다음 날 재시도, 3회 실패는 관리자 화면에 표시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02920" y="5120640"/>
            <a:ext cx="11155680" cy="1005840"/>
          </a:xfrm>
          <a:prstGeom prst="roundRect">
            <a:avLst>
              <a:gd name="adj" fmla="val 7273"/>
            </a:avLst>
          </a:prstGeom>
          <a:solidFill>
            <a:srgbClr val="FDF3E7"/>
          </a:solidFill>
          <a:ln w="9525">
            <a:solidFill>
              <a:srgbClr val="F3D9B8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77240" y="5230368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453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보내기 전에 손을 대고 싶을 때  </a:t>
            </a:r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관리자 화면(/admin/leads)에서 해당 리드를 열고 "보류" 또는 "본문 수정"을 누르면 됩니다. 아무것도 안 하면 예정대로 자동 발송됩니다 — 기본값은 자동, 손대는 건 예외입니다.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47395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(주)코어디엑스아이 · 영업채널 자동 팔로업 시스템 안내 · 2026-09-02</a:t>
            </a:r>
            <a:endParaRPr lang="en-US" sz="850" dirty="0"/>
          </a:p>
        </p:txBody>
      </p:sp>
      <p:sp>
        <p:nvSpPr>
          <p:cNvPr id="25" name="Text 23"/>
          <p:cNvSpPr txBox="1"/>
          <p:nvPr/>
        </p:nvSpPr>
        <p:spPr>
          <a:xfrm>
            <a:off x="11338560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539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 구조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어떤 부품이 어떻게 연결되나 — 홈페이지 안에 전부 들어 있습니다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828800"/>
            <a:ext cx="210312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9525">
            <a:solidFill>
              <a:srgbClr val="DDE3E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93852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 휴대폰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2860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카톡으로 받은 링크 열기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3154680" y="1828800"/>
            <a:ext cx="23774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9525">
            <a:solidFill>
              <a:srgbClr val="DDE3E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291840" y="193852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진단 페이지 /ax-check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3291840" y="228600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8문항 · 결과 화면 · 결과 다시 보기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080760" y="1828800"/>
            <a:ext cx="2377440" cy="1188720"/>
          </a:xfrm>
          <a:prstGeom prst="roundRect">
            <a:avLst>
              <a:gd name="adj" fmla="val 6154"/>
            </a:avLst>
          </a:prstGeom>
          <a:solidFill>
            <a:srgbClr val="1F3864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17920" y="193852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리드 저장소(DB)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6217920" y="228600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답변 · 등급 · 발송 예정/완료 상태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9006840" y="1828800"/>
            <a:ext cx="265176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9525">
            <a:solidFill>
              <a:srgbClr val="DDE3E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144000" y="193852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메일 발송(Resend)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9144000" y="22860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고객에게 T0 · T1, 영업이사에게 새 리드 알림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02920" y="3657600"/>
            <a:ext cx="210312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9525">
            <a:solidFill>
              <a:srgbClr val="DDE3E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" y="376732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영업이사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41148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알림 메일 받음 → HOT 전화 → 상태 갱신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154680" y="3657600"/>
            <a:ext cx="23774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9525">
            <a:solidFill>
              <a:srgbClr val="DDE3E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291840" y="376732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관리자 화면 /admin/leads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3291840" y="411480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리드 목록 · 보류 · 수정 · 지금 보내기 · 상태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080760" y="3657600"/>
            <a:ext cx="23774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9525">
            <a:solidFill>
              <a:srgbClr val="DDE3EE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217920" y="376732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매일 09:30 자동 실행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6217920" y="411480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보낼 T1을 찾아 발송, 실패 시 재시도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9006840" y="3657600"/>
            <a:ext cx="265176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9525">
            <a:solidFill>
              <a:srgbClr val="DDE3EE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144000" y="376732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분석(GA4 · 대시보드)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9144000" y="41148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제출 · 발송 · 회신 · 미팅 수를 자동 집계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606040" y="2423160"/>
            <a:ext cx="548640" cy="914"/>
          </a:xfrm>
          <a:prstGeom prst="line">
            <a:avLst/>
          </a:prstGeom>
          <a:noFill/>
          <a:ln w="22225">
            <a:solidFill>
              <a:srgbClr val="2E5395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5532120" y="2423160"/>
            <a:ext cx="548640" cy="914"/>
          </a:xfrm>
          <a:prstGeom prst="line">
            <a:avLst/>
          </a:prstGeom>
          <a:noFill/>
          <a:ln w="22225">
            <a:solidFill>
              <a:srgbClr val="2E5395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8458200" y="2423160"/>
            <a:ext cx="548640" cy="914"/>
          </a:xfrm>
          <a:prstGeom prst="line">
            <a:avLst/>
          </a:prstGeom>
          <a:noFill/>
          <a:ln w="22225">
            <a:solidFill>
              <a:srgbClr val="2E5395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7269480" y="3017520"/>
            <a:ext cx="914" cy="640080"/>
          </a:xfrm>
          <a:prstGeom prst="line">
            <a:avLst/>
          </a:prstGeom>
          <a:noFill/>
          <a:ln w="22225">
            <a:solidFill>
              <a:srgbClr val="2E5395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 flipH="1">
            <a:off x="5212080" y="3017520"/>
            <a:ext cx="1188720" cy="640080"/>
          </a:xfrm>
          <a:prstGeom prst="line">
            <a:avLst/>
          </a:prstGeom>
          <a:noFill/>
          <a:ln w="22225">
            <a:solidFill>
              <a:srgbClr val="2E5395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 flipV="1">
            <a:off x="8138160" y="3017520"/>
            <a:ext cx="1188720" cy="640080"/>
          </a:xfrm>
          <a:prstGeom prst="line">
            <a:avLst/>
          </a:prstGeom>
          <a:noFill/>
          <a:ln w="22225">
            <a:solidFill>
              <a:srgbClr val="2E5395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2606040" y="4251960"/>
            <a:ext cx="548640" cy="914"/>
          </a:xfrm>
          <a:prstGeom prst="line">
            <a:avLst/>
          </a:prstGeom>
          <a:noFill/>
          <a:ln w="22225">
            <a:solidFill>
              <a:srgbClr val="2E5395"/>
            </a:solidFill>
            <a:prstDash val="solid"/>
            <a:tailEnd type="triangle"/>
          </a:ln>
        </p:spPr>
      </p:sp>
      <p:sp>
        <p:nvSpPr>
          <p:cNvPr id="35" name="Text 33"/>
          <p:cNvSpPr txBox="1"/>
          <p:nvPr/>
        </p:nvSpPr>
        <p:spPr>
          <a:xfrm>
            <a:off x="3931920" y="33101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읽기·보류·수정</a:t>
            </a:r>
            <a:endParaRPr lang="en-US" sz="900" dirty="0"/>
          </a:p>
        </p:txBody>
      </p:sp>
      <p:sp>
        <p:nvSpPr>
          <p:cNvPr id="36" name="Text 34"/>
          <p:cNvSpPr txBox="1"/>
          <p:nvPr/>
        </p:nvSpPr>
        <p:spPr>
          <a:xfrm>
            <a:off x="9098280" y="331012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예정된 T1 발송</a:t>
            </a:r>
            <a:endParaRPr lang="en-US" sz="900" dirty="0"/>
          </a:p>
        </p:txBody>
      </p:sp>
      <p:sp>
        <p:nvSpPr>
          <p:cNvPr id="37" name="Text 35"/>
          <p:cNvSpPr txBox="1"/>
          <p:nvPr/>
        </p:nvSpPr>
        <p:spPr>
          <a:xfrm>
            <a:off x="502920" y="4892040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메일 발송은 고객·영업이사 양쪽으로 나갑니다. 영업이사는 알림 메일의 링크로 관리자 화면에 들어옵니다.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502920" y="5120640"/>
            <a:ext cx="11155680" cy="1005840"/>
          </a:xfrm>
          <a:prstGeom prst="roundRect">
            <a:avLst>
              <a:gd name="adj" fmla="val 7273"/>
            </a:avLst>
          </a:prstGeom>
          <a:solidFill>
            <a:srgbClr val="EDF1F8"/>
          </a:solidFill>
          <a:ln w="9525">
            <a:solidFill>
              <a:srgbClr val="DDE3EE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777240" y="5230368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539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안전장치  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같은 리드에 두 번 보내지 않도록 발송 직전에 "선점" 표시  ② 실패하면 다음 날 자동 재시도(최대 3회)  ③ 문제가 생기면 설정 하나로 예전 수동 방식으로 즉시 복귀(킬 스위치)  ④ 배포 이전에 들어온 리드에는 소급 발송하지 않음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457200" y="647395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(주)코어디엑스아이 · 영업채널 자동 팔로업 시스템 안내 · 2026-09-02</a:t>
            </a:r>
            <a:endParaRPr lang="en-US" sz="850" dirty="0"/>
          </a:p>
        </p:txBody>
      </p:sp>
      <p:sp>
        <p:nvSpPr>
          <p:cNvPr id="41" name="Text 39"/>
          <p:cNvSpPr txBox="1"/>
          <p:nvPr/>
        </p:nvSpPr>
        <p:spPr>
          <a:xfrm>
            <a:off x="11338560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539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관리자 화면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/admin/leads — 리드 하나를 열면 이렇게 보입니다 (안내용 화면 그림)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11155680" cy="4617720"/>
          </a:xfrm>
          <a:prstGeom prst="roundRect">
            <a:avLst>
              <a:gd name="adj" fmla="val 1584"/>
            </a:avLst>
          </a:prstGeom>
          <a:solidFill>
            <a:srgbClr val="FFFFFF"/>
          </a:solidFill>
          <a:ln w="9525">
            <a:solidFill>
              <a:srgbClr val="C5CC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417320"/>
            <a:ext cx="11155680" cy="384048"/>
          </a:xfrm>
          <a:prstGeom prst="rect">
            <a:avLst/>
          </a:prstGeom>
          <a:solidFill>
            <a:srgbClr val="F3F4F6"/>
          </a:solidFill>
          <a:ln w="9525">
            <a:solidFill>
              <a:srgbClr val="C5CC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527048"/>
            <a:ext cx="164592" cy="164592"/>
          </a:xfrm>
          <a:prstGeom prst="ellipse">
            <a:avLst/>
          </a:prstGeom>
          <a:solidFill>
            <a:srgbClr val="EF6B6B"/>
          </a:solidFill>
          <a:ln w="12700">
            <a:solidFill>
              <a:srgbClr val="EF6B6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1527048"/>
            <a:ext cx="164592" cy="164592"/>
          </a:xfrm>
          <a:prstGeom prst="ellipse">
            <a:avLst/>
          </a:prstGeom>
          <a:solidFill>
            <a:srgbClr val="F5C26B"/>
          </a:solidFill>
          <a:ln w="12700">
            <a:solidFill>
              <a:srgbClr val="F5C26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43000" y="1527048"/>
            <a:ext cx="164592" cy="164592"/>
          </a:xfrm>
          <a:prstGeom prst="ellipse">
            <a:avLst/>
          </a:prstGeom>
          <a:solidFill>
            <a:srgbClr val="6BCB77"/>
          </a:solidFill>
          <a:ln w="12700">
            <a:solidFill>
              <a:srgbClr val="6BCB7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554480" y="1490472"/>
            <a:ext cx="8686800" cy="237744"/>
          </a:xfrm>
          <a:prstGeom prst="roundRect">
            <a:avLst>
              <a:gd name="adj" fmla="val 30769"/>
            </a:avLst>
          </a:prstGeom>
          <a:solidFill>
            <a:srgbClr val="FFFFFF"/>
          </a:solidFill>
          <a:ln w="9525">
            <a:solidFill>
              <a:srgbClr val="DDE3E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691640" y="14904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www.coredxi.com/admin/leads?lead=…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31520" y="2011680"/>
            <a:ext cx="3291840" cy="3794760"/>
          </a:xfrm>
          <a:prstGeom prst="roundRect">
            <a:avLst>
              <a:gd name="adj" fmla="val 2222"/>
            </a:avLst>
          </a:prstGeom>
          <a:solidFill>
            <a:srgbClr val="EDF1F8"/>
          </a:solidFill>
          <a:ln w="9525">
            <a:solidFill>
              <a:srgbClr val="DDE3E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4400" y="21488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가온네트웍스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914400" y="2560320"/>
            <a:ext cx="685800" cy="274320"/>
          </a:xfrm>
          <a:prstGeom prst="roundRect">
            <a:avLst>
              <a:gd name="adj" fmla="val 50000"/>
            </a:avLst>
          </a:prstGeom>
          <a:solidFill>
            <a:srgbClr val="FDE2E2"/>
          </a:solidFill>
          <a:ln w="12700">
            <a:solidFill>
              <a:srgbClr val="FDE2E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14400" y="256032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9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HOT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914400" y="2926080"/>
            <a:ext cx="29260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담당자  박정우 · 010-1234-5678
</a:t>
            </a:r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업종  네트워크·통신 인프라 구축 · 10~30명
</a:t>
            </a:r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유입  ref=sales-kim · 9/3(목) 14:12 제출
</a:t>
            </a:r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
검토 시점  3개월 내
</a:t>
            </a:r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결정 구조  대표(경영진) 보고 필요
</a:t>
            </a:r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시간 드는 업무  견적·투찰 서류 / 나라장터 / A·S 이력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914400" y="52578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상태:  신규 ▾     메모: [통화 내용 한 줄]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251960" y="2011680"/>
            <a:ext cx="7178040" cy="3794760"/>
          </a:xfrm>
          <a:prstGeom prst="roundRect">
            <a:avLst>
              <a:gd name="adj" fmla="val 1928"/>
            </a:avLst>
          </a:prstGeom>
          <a:solidFill>
            <a:srgbClr val="FFFFFF"/>
          </a:solidFill>
          <a:ln w="9525">
            <a:solidFill>
              <a:srgbClr val="DDE3E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480560" y="212140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팔로업 메일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480560" y="2514600"/>
            <a:ext cx="1417320" cy="292608"/>
          </a:xfrm>
          <a:prstGeom prst="roundRect">
            <a:avLst>
              <a:gd name="adj" fmla="val 50000"/>
            </a:avLst>
          </a:prstGeom>
          <a:solidFill>
            <a:srgbClr val="DCE6F6"/>
          </a:solidFill>
          <a:ln w="12700">
            <a:solidFill>
              <a:srgbClr val="DCE6F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480560" y="251460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539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발송 예정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6035040" y="2514600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예정: 9/7(월) 09:30   ·   요약 메일(T0): 9/3 14:12 발송됨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480560" y="2971800"/>
            <a:ext cx="1371600" cy="3657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DE3EE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480560" y="29718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보류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425696" y="2916936"/>
            <a:ext cx="1481328" cy="475488"/>
          </a:xfrm>
          <a:prstGeom prst="roundRect">
            <a:avLst>
              <a:gd name="adj" fmla="val 19231"/>
            </a:avLst>
          </a:prstGeom>
          <a:solidFill>
            <a:srgbClr val="FFFFFF">
              <a:alpha val="0"/>
            </a:srgbClr>
          </a:solidFill>
          <a:ln w="19050">
            <a:solidFill>
              <a:srgbClr val="E2582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669280" y="2788920"/>
            <a:ext cx="274320" cy="274320"/>
          </a:xfrm>
          <a:prstGeom prst="ellipse">
            <a:avLst/>
          </a:prstGeom>
          <a:solidFill>
            <a:srgbClr val="E2582A"/>
          </a:solidFill>
          <a:ln w="12700">
            <a:solidFill>
              <a:srgbClr val="E2582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669280" y="27889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961888" y="2971800"/>
            <a:ext cx="1371600" cy="365760"/>
          </a:xfrm>
          <a:prstGeom prst="roundRect">
            <a:avLst>
              <a:gd name="adj" fmla="val 20000"/>
            </a:avLst>
          </a:prstGeom>
          <a:solidFill>
            <a:srgbClr val="1F3864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961888" y="29718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 보내기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443216" y="2971800"/>
            <a:ext cx="1371600" cy="3657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DE3EE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443216" y="29718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본문 수정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7388352" y="2916936"/>
            <a:ext cx="1481328" cy="475488"/>
          </a:xfrm>
          <a:prstGeom prst="roundRect">
            <a:avLst>
              <a:gd name="adj" fmla="val 19231"/>
            </a:avLst>
          </a:prstGeom>
          <a:solidFill>
            <a:srgbClr val="FFFFFF">
              <a:alpha val="0"/>
            </a:srgbClr>
          </a:solidFill>
          <a:ln w="19050">
            <a:solidFill>
              <a:srgbClr val="E2582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631936" y="2788920"/>
            <a:ext cx="274320" cy="274320"/>
          </a:xfrm>
          <a:prstGeom prst="ellipse">
            <a:avLst/>
          </a:prstGeom>
          <a:solidFill>
            <a:srgbClr val="E2582A"/>
          </a:solidFill>
          <a:ln w="12700">
            <a:solidFill>
              <a:srgbClr val="E2582A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631936" y="27889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8924544" y="2971800"/>
            <a:ext cx="1371600" cy="3657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DE3EE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8924544" y="29718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초안 복사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4480560" y="3520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미리보기 — 실제로 나갈 본문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480560" y="3794760"/>
            <a:ext cx="6720840" cy="1874520"/>
          </a:xfrm>
          <a:prstGeom prst="roundRect">
            <a:avLst>
              <a:gd name="adj" fmla="val 3902"/>
            </a:avLst>
          </a:prstGeom>
          <a:solidFill>
            <a:srgbClr val="F9FAFB"/>
          </a:solidFill>
          <a:ln w="9525">
            <a:solidFill>
              <a:srgbClr val="DDE3EE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4617720" y="3858768"/>
            <a:ext cx="64465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[CoreDXI] 가온네트웍스 AX 체크 상세 진단 — 우선 과제 3가지와 3개월 로드맵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가온네트웍스 박정우님, 안녕하세요. CoreDXI입니다.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지난 AX 체크에서 답변해 주신 내용을 바탕으로 네트워크·통신 인프라 구축 기준의 우선 과제 3가지를 정리했습니다. …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제안서·견적서 자동 초안 생성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- '견적·내역서·투찰 서류 작성'을(를) 가장 시간이 많이 드는 업무로 꼽아주셨습니다. …</a:t>
            </a:r>
            <a:endParaRPr lang="en-US" sz="850" dirty="0"/>
          </a:p>
        </p:txBody>
      </p:sp>
      <p:sp>
        <p:nvSpPr>
          <p:cNvPr id="39" name="Text 37"/>
          <p:cNvSpPr txBox="1"/>
          <p:nvPr/>
        </p:nvSpPr>
        <p:spPr>
          <a:xfrm>
            <a:off x="502920" y="6108192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보류 — 이 리드는 자동 발송을 멈춥니다(다시 "보류 해제"하면 재개).   ② 본문 수정 — 제목·본문을 고치면 고친 내용으로 나갑니다.   (안내용 화면 그림 — 실제 화면과 배치가 다를 수 있습니다)</a:t>
            </a:r>
            <a:endParaRPr lang="en-US" sz="950" dirty="0"/>
          </a:p>
        </p:txBody>
      </p:sp>
      <p:sp>
        <p:nvSpPr>
          <p:cNvPr id="40" name="Text 38"/>
          <p:cNvSpPr txBox="1"/>
          <p:nvPr/>
        </p:nvSpPr>
        <p:spPr>
          <a:xfrm>
            <a:off x="457200" y="647395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(주)코어디엑스아이 · 영업채널 자동 팔로업 시스템 안내 · 2026-09-02</a:t>
            </a:r>
            <a:endParaRPr lang="en-US" sz="850" dirty="0"/>
          </a:p>
        </p:txBody>
      </p:sp>
      <p:sp>
        <p:nvSpPr>
          <p:cNvPr id="41" name="Text 39"/>
          <p:cNvSpPr txBox="1"/>
          <p:nvPr/>
        </p:nvSpPr>
        <p:spPr>
          <a:xfrm>
            <a:off x="11338560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539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검토 요청 ①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메일 초안 2안 — 어느 쪽 말투가 우리 고객에게 맞을까요? (샘플 PDF 별첨)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5440680" cy="2834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9525">
            <a:solidFill>
              <a:srgbClr val="DDE3E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58952" y="162763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 1 — 정돈된 컨설턴트 톤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58952" y="199339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E539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신뢰·구조 강조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758952" y="2377440"/>
            <a:ext cx="4937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"CoreDXI입니다" 격식 있는 인사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과제마다 "왜 지금인지 → 1주·1개월·3개월 → 기대 효과" 순서 명시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진행 방식(진단→설계→구축→교육)을 분명히 안내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제목: [CoreDXI] {회사} AX 체크 결과 — 우선 과제 3가지 정리본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58952" y="365760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대표·경영진에게 보고용으로 전달되기 좋음. 다만 첫 접촉으로는 다소 딱딱할 수 있음.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172200" y="1463040"/>
            <a:ext cx="5440680" cy="2834640"/>
          </a:xfrm>
          <a:prstGeom prst="roundRect">
            <a:avLst>
              <a:gd name="adj" fmla="val 2581"/>
            </a:avLst>
          </a:prstGeom>
          <a:solidFill>
            <a:srgbClr val="EDF1F8"/>
          </a:solidFill>
          <a:ln w="9525">
            <a:solidFill>
              <a:srgbClr val="DDE3E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28232" y="162763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 2 — 짧고 대화체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428232" y="199339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E539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거부감 완화 · 가벼운 첫 접촉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6428232" y="2377440"/>
            <a:ext cx="4937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"3분 진단 고생하셨습니다"로 시작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"거창한 도입 계획이 아니라 첫 주에 시작할 수 있는 것부터"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 링크를 먼저, 설명은 짧게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제목: {성함}님, {회사} AX 체크 결과입니다 (CoreDXI)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6428232" y="365760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"AI 쓸 일 없다"는 분께 부담이 적음. 다만 회사 소개가 약해 보일 수 있음.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02920" y="4572000"/>
            <a:ext cx="11155680" cy="777240"/>
          </a:xfrm>
          <a:prstGeom prst="roundRect">
            <a:avLst>
              <a:gd name="adj" fmla="val 9412"/>
            </a:avLst>
          </a:prstGeom>
          <a:solidFill>
            <a:srgbClr val="1F3864"/>
          </a:solidFill>
          <a:ln w="9525">
            <a:solidFill>
              <a:srgbClr val="DDE3E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77240" y="4663440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추천 조합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첫 메일(T0)은 안 2로 가볍게, 상세 진단(T1)은 안 1로 구조 있게. 섞어 써도 됩니다 — 샘플 PDF에서 네 통을 실제 받는 모습으로 확인해 주세요.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647395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(주)코어디엑스아이 · 영업채널 자동 팔로업 시스템 안내 · 2026-09-02</a:t>
            </a:r>
            <a:endParaRPr lang="en-US" sz="850" dirty="0"/>
          </a:p>
        </p:txBody>
      </p:sp>
      <p:sp>
        <p:nvSpPr>
          <p:cNvPr id="17" name="Text 15"/>
          <p:cNvSpPr txBox="1"/>
          <p:nvPr/>
        </p:nvSpPr>
        <p:spPr>
          <a:xfrm>
            <a:off x="11338560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539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일정과 검토 요청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9월 안에 자동화까지 — 그 전까지는 대표가 직접 보냅니다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210312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9525">
            <a:solidFill>
              <a:srgbClr val="DDE3E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67512" y="1572768"/>
            <a:ext cx="17739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E539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9/4(금)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67512" y="1901952"/>
            <a:ext cx="1773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첫 링크 발송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67512" y="2286000"/>
            <a:ext cx="17739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3~5곳. 이 시기 리드는 대표가 관리자 화면에서 초안을 복사해 발송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52344" y="1463040"/>
            <a:ext cx="210312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9525">
            <a:solidFill>
              <a:srgbClr val="DDE3E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916936" y="1572768"/>
            <a:ext cx="17739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E539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~9/5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2916936" y="1901952"/>
            <a:ext cx="1773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설계·문구 확정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2916936" y="2286000"/>
            <a:ext cx="17739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메일 초안 선택, 서명 정보, 통화 규칙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001768" y="1463040"/>
            <a:ext cx="2103120" cy="1600200"/>
          </a:xfrm>
          <a:prstGeom prst="roundRect">
            <a:avLst>
              <a:gd name="adj" fmla="val 4571"/>
            </a:avLst>
          </a:prstGeom>
          <a:solidFill>
            <a:srgbClr val="EDF1F8"/>
          </a:solidFill>
          <a:ln w="9525">
            <a:solidFill>
              <a:srgbClr val="DDE3E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166360" y="1572768"/>
            <a:ext cx="17739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E539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9/8~9/12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5166360" y="1901952"/>
            <a:ext cx="1773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개발·배포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166360" y="2286000"/>
            <a:ext cx="17739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T0·T1 자동 발송, 관리자 보류 창, 매일 09:30 자동 실행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251192" y="1463040"/>
            <a:ext cx="2103120" cy="1600200"/>
          </a:xfrm>
          <a:prstGeom prst="roundRect">
            <a:avLst>
              <a:gd name="adj" fmla="val 4571"/>
            </a:avLst>
          </a:prstGeom>
          <a:solidFill>
            <a:srgbClr val="EDF1F8"/>
          </a:solidFill>
          <a:ln w="9525">
            <a:solidFill>
              <a:srgbClr val="DDE3E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415784" y="1572768"/>
            <a:ext cx="17739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E539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9/12~9/16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7415784" y="1901952"/>
            <a:ext cx="1773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전환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7415784" y="2286000"/>
            <a:ext cx="17739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영업이사님 30분 안내, 이후 리드부터 완전 자동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9500616" y="1463040"/>
            <a:ext cx="2103120" cy="1600200"/>
          </a:xfrm>
          <a:prstGeom prst="roundRect">
            <a:avLst>
              <a:gd name="adj" fmla="val 4571"/>
            </a:avLst>
          </a:prstGeom>
          <a:solidFill>
            <a:srgbClr val="EDF1F8"/>
          </a:solidFill>
          <a:ln w="9525">
            <a:solidFill>
              <a:srgbClr val="DDE3E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665208" y="1572768"/>
            <a:ext cx="17739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E539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~9/26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9665208" y="1901952"/>
            <a:ext cx="1773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2차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9665208" y="2286000"/>
            <a:ext cx="17739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후속 메일(T2), 미팅 예약 링크(Calendly)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502920" y="33375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영업이사님께 부탁드리는 것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374904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539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914400" y="37490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메일 초안 선택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2651760" y="3749040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별첨 샘플 PDF의 네 통 중 T0·T1 각각 어느 안이 좋은지 (섞어도 됨)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4315968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539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914400" y="431596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통화 규칙</a:t>
            </a:r>
            <a:endParaRPr lang="en-US" sz="1150" dirty="0"/>
          </a:p>
        </p:txBody>
      </p:sp>
      <p:sp>
        <p:nvSpPr>
          <p:cNvPr id="30" name="Text 28"/>
          <p:cNvSpPr txBox="1"/>
          <p:nvPr/>
        </p:nvSpPr>
        <p:spPr>
          <a:xfrm>
            <a:off x="2651760" y="4315968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HOT 리드는 상세 메일 발송 당일 전화 — 가능한지, 부재 시 대표가 대신해도 되는지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548640" y="4882896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539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914400" y="4882896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서명 정보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2651760" y="4882896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메일 하단에 들어갈 성함·직함·휴대전화·회신 받을 메일 주소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548640" y="5449824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539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914400" y="5449824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문구 한 줄</a:t>
            </a:r>
            <a:endParaRPr lang="en-US" sz="1150" dirty="0"/>
          </a:p>
        </p:txBody>
      </p:sp>
      <p:sp>
        <p:nvSpPr>
          <p:cNvPr id="36" name="Text 34"/>
          <p:cNvSpPr txBox="1"/>
          <p:nvPr/>
        </p:nvSpPr>
        <p:spPr>
          <a:xfrm>
            <a:off x="2651760" y="5449824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고객이 결과 화면에서 보는 문장: "정리된 상세 진단서를 영업일 기준 2~3일 내 메일로 보내드립니다. 우선 과제가 뚜렷한 경우 담당 이사가 직접 연락드립니다." — 괜찮은지</a:t>
            </a:r>
            <a:endParaRPr lang="en-US" sz="1050" dirty="0"/>
          </a:p>
        </p:txBody>
      </p:sp>
      <p:sp>
        <p:nvSpPr>
          <p:cNvPr id="37" name="Text 35"/>
          <p:cNvSpPr txBox="1"/>
          <p:nvPr/>
        </p:nvSpPr>
        <p:spPr>
          <a:xfrm>
            <a:off x="457200" y="647395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(주)코어디엑스아이 · 영업채널 자동 팔로업 시스템 안내 · 2026-09-02</a:t>
            </a:r>
            <a:endParaRPr lang="en-US" sz="850" dirty="0"/>
          </a:p>
        </p:txBody>
      </p:sp>
      <p:sp>
        <p:nvSpPr>
          <p:cNvPr id="38" name="Text 36"/>
          <p:cNvSpPr txBox="1"/>
          <p:nvPr/>
        </p:nvSpPr>
        <p:spPr>
          <a:xfrm>
            <a:off x="11338560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2026-09-02T05:01:07Z</dcterms:created>
  <dcterms:modified xsi:type="dcterms:W3CDTF">2026-09-02T05:01:07Z</dcterms:modified>
</cp:coreProperties>
</file>